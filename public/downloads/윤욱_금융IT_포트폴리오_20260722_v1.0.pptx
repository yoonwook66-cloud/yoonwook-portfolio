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25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051560"/>
            <a:ext cx="4480560" cy="4480560"/>
          </a:xfrm>
          <a:prstGeom prst="ellipse">
            <a:avLst/>
          </a:prstGeom>
          <a:ln w="15875">
            <a:solidFill>
              <a:srgbClr val="1E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600200"/>
            <a:ext cx="3383280" cy="3383280"/>
          </a:xfrm>
          <a:prstGeom prst="ellipse">
            <a:avLst/>
          </a:prstGeom>
          <a:ln w="12700">
            <a:solidFill>
              <a:srgbClr val="243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965960"/>
            <a:ext cx="2651760" cy="2651760"/>
          </a:xfrm>
          <a:prstGeom prst="ellipse">
            <a:avLst/>
          </a:prstGeom>
          <a:solidFill>
            <a:srgbClr val="16264A"/>
          </a:solidFill>
          <a:ln w="19050">
            <a:solidFill>
              <a:srgbClr val="C6A34E"/>
            </a:solidFill>
            <a:prstDash val="solid"/>
          </a:ln>
          <a:effectLst>
            <a:outerShdw blurRad="203200" dist="63500" dir="5400000" algn="bl" rotWithShape="0">
              <a:srgbClr val="0E1B3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81160" y="21488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 smtClean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YW</a:t>
            </a:r>
            <a:r>
              <a:rPr lang="en-US" sz="5800" b="1" dirty="0" smtClean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28116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YOON  WOOK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 CAREER  PORTFOLIO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IT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kern="0" spc="1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 욱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SI</a:t>
            </a:r>
            <a:r>
              <a:rPr lang="en-US" sz="145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•   </a:t>
            </a:r>
            <a:r>
              <a:rPr lang="en-US" sz="1450" b="1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여신·융자</a:t>
            </a:r>
            <a:r>
              <a:rPr lang="en-US" sz="145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•   </a:t>
            </a:r>
            <a:r>
              <a:rPr lang="en-US" sz="1450" b="1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/ PL</a:t>
            </a:r>
            <a:r>
              <a:rPr lang="en-US" sz="145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•   </a:t>
            </a:r>
            <a:r>
              <a:rPr lang="en-US" sz="1450" b="1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품질·AI 자동화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 smtClean="0">
                <a:solidFill>
                  <a:srgbClr val="8290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30년의 </a:t>
            </a:r>
            <a:r>
              <a:rPr lang="en-US" sz="1350" dirty="0">
                <a:solidFill>
                  <a:srgbClr val="8290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IT 실무 경험 위에 AI·품질 자동화 역량을 더한,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290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업무를 이해하고 시스템으로 문제를 해결하는 전문가입니다.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" y="5989320"/>
            <a:ext cx="4206240" cy="0"/>
          </a:xfrm>
          <a:prstGeom prst="line">
            <a:avLst/>
          </a:prstGeom>
          <a:noFill/>
          <a:ln w="12700">
            <a:solidFill>
              <a:srgbClr val="1E31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053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010-5352-3448</a:t>
            </a:r>
            <a:r>
              <a:rPr lang="en-US" sz="130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yoonwook@naver.com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경쟁력 요약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현장 경험과 최신 기술 학습을 결합한 금융 IT 전문가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38100" dir="5400000" algn="bl" rotWithShape="0">
              <a:srgbClr val="0E1B38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5798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37년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691640" y="2852928"/>
            <a:ext cx="512064" cy="0"/>
          </a:xfrm>
          <a:prstGeom prst="line">
            <a:avLst/>
          </a:prstGeom>
          <a:noFill/>
          <a:ln w="19050">
            <a:solidFill>
              <a:srgbClr val="C6A3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077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실무 경험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938528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38100" dir="5400000" algn="bl" rotWithShape="0">
              <a:srgbClr val="0E1B38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15798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526280" y="2852928"/>
            <a:ext cx="512064" cy="0"/>
          </a:xfrm>
          <a:prstGeom prst="line">
            <a:avLst/>
          </a:prstGeom>
          <a:noFill/>
          <a:ln w="19050">
            <a:solidFill>
              <a:srgbClr val="C6A3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077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금융 프로젝트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38528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38100" dir="5400000" algn="bl" rotWithShape="0">
              <a:srgbClr val="0E1B38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15798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PM/PL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360920" y="2852928"/>
            <a:ext cx="512064" cy="0"/>
          </a:xfrm>
          <a:prstGeom prst="line">
            <a:avLst/>
          </a:prstGeom>
          <a:noFill/>
          <a:ln w="19050">
            <a:solidFill>
              <a:srgbClr val="C6A3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077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사업관리·리딩 경험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0" y="1938528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38100" dir="5400000" algn="bl" rotWithShape="0">
              <a:srgbClr val="0E1B38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215798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AI·ISTQB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10195560" y="2852928"/>
            <a:ext cx="512064" cy="0"/>
          </a:xfrm>
          <a:prstGeom prst="line">
            <a:avLst/>
          </a:prstGeom>
          <a:noFill/>
          <a:ln w="19050">
            <a:solidFill>
              <a:srgbClr val="C6A3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9077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품질·SW테스트 역량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6903720" cy="2148840"/>
          </a:xfrm>
          <a:prstGeom prst="roundRect">
            <a:avLst>
              <a:gd name="adj" fmla="val 3830"/>
            </a:avLst>
          </a:prstGeom>
          <a:solidFill>
            <a:srgbClr val="0E1B38"/>
          </a:solidFill>
          <a:ln/>
          <a:effectLst>
            <a:outerShdw blurRad="127000" dist="50800" dir="5400000" algn="bl" rotWithShape="0">
              <a:srgbClr val="0E1B38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39593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 PROPOSITION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“금융 업무를 이해하는 개발자이자, 현장을 조율하는 프로젝트 리더”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0120" y="5001768"/>
            <a:ext cx="6181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8000"/>
              </a:lnSpc>
            </a:pPr>
            <a:r>
              <a:rPr lang="en-US" sz="1250" dirty="0" err="1" smtClean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</a:t>
            </a:r>
            <a:r>
              <a:rPr lang="en-US" altLang="ko-KR" sz="125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250" dirty="0" err="1" smtClean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신용평가</a:t>
            </a:r>
            <a:r>
              <a:rPr lang="en-US" altLang="ko-KR" sz="125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250" dirty="0" err="1" smtClean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사후관리</a:t>
            </a:r>
            <a:r>
              <a:rPr lang="en-US" sz="1250" dirty="0" smtClean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경험을 바탕으로 안정성, 품질, 고객 신뢰를 높이는 시스템 구축에 강점이 있습니다.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18120" y="3703320"/>
            <a:ext cx="3730752" cy="2148840"/>
          </a:xfrm>
          <a:prstGeom prst="roundRect">
            <a:avLst>
              <a:gd name="adj" fmla="val 3830"/>
            </a:avLst>
          </a:prstGeom>
          <a:solidFill>
            <a:srgbClr val="ECF0F8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 CHAIN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10728" y="4233672"/>
            <a:ext cx="237744" cy="237744"/>
          </a:xfrm>
          <a:prstGeom prst="ellipse">
            <a:avLst/>
          </a:prstGeom>
          <a:solidFill>
            <a:srgbClr val="0E1B38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76488" y="41970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이해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471416"/>
            <a:ext cx="0" cy="45720"/>
          </a:xfrm>
          <a:prstGeom prst="line">
            <a:avLst/>
          </a:prstGeom>
          <a:noFill/>
          <a:ln w="12700">
            <a:solidFill>
              <a:srgbClr val="C6A3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0728" y="4539996"/>
            <a:ext cx="237744" cy="237744"/>
          </a:xfrm>
          <a:prstGeom prst="ellipse">
            <a:avLst/>
          </a:prstGeom>
          <a:solidFill>
            <a:srgbClr val="0E1B38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45399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76488" y="45034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개발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0" y="4777740"/>
            <a:ext cx="0" cy="45720"/>
          </a:xfrm>
          <a:prstGeom prst="line">
            <a:avLst/>
          </a:prstGeom>
          <a:noFill/>
          <a:ln w="12700">
            <a:solidFill>
              <a:srgbClr val="C6A3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4846320"/>
            <a:ext cx="237744" cy="237744"/>
          </a:xfrm>
          <a:prstGeom prst="ellipse">
            <a:avLst/>
          </a:prstGeom>
          <a:solidFill>
            <a:srgbClr val="0E1B38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48463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76488" y="48097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/ </a:t>
            </a:r>
            <a:r>
              <a:rPr lang="en-US" sz="1300" b="1" dirty="0" smtClean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</a:t>
            </a:r>
            <a:r>
              <a:rPr lang="en-US" altLang="ko-KR" sz="1300" b="1" dirty="0" smtClean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300" b="1" dirty="0" smtClean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사업관리</a:t>
            </a:r>
            <a:endParaRPr lang="en-US" altLang="ko-KR" sz="1300" dirty="0"/>
          </a:p>
        </p:txBody>
      </p:sp>
      <p:sp>
        <p:nvSpPr>
          <p:cNvPr id="38" name="Shape 36"/>
          <p:cNvSpPr/>
          <p:nvPr/>
        </p:nvSpPr>
        <p:spPr>
          <a:xfrm>
            <a:off x="8229600" y="5084064"/>
            <a:ext cx="0" cy="45720"/>
          </a:xfrm>
          <a:prstGeom prst="line">
            <a:avLst/>
          </a:prstGeom>
          <a:noFill/>
          <a:ln w="12700">
            <a:solidFill>
              <a:srgbClr val="C6A3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0728" y="5152644"/>
            <a:ext cx="237744" cy="237744"/>
          </a:xfrm>
          <a:prstGeom prst="ellipse">
            <a:avLst/>
          </a:prstGeom>
          <a:solidFill>
            <a:srgbClr val="0E1B38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51526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76488" y="51160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0" y="5390388"/>
            <a:ext cx="0" cy="45720"/>
          </a:xfrm>
          <a:prstGeom prst="line">
            <a:avLst/>
          </a:prstGeom>
          <a:noFill/>
          <a:ln w="12700">
            <a:solidFill>
              <a:srgbClr val="C6A3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0728" y="5458968"/>
            <a:ext cx="237744" cy="237744"/>
          </a:xfrm>
          <a:prstGeom prst="ellipse">
            <a:avLst/>
          </a:prstGeom>
          <a:solidFill>
            <a:srgbClr val="0E1B38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54589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76488" y="54223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접목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48" name="Text 46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타임라인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전산실에서 금융 SI 리더까지 이어진 37년의 성장 과정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10469880" cy="0"/>
          </a:xfrm>
          <a:prstGeom prst="line">
            <a:avLst/>
          </a:prstGeom>
          <a:noFill/>
          <a:ln w="25400">
            <a:solidFill>
              <a:srgbClr val="162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한일약품공업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74320" cy="274320"/>
          </a:xfrm>
          <a:prstGeom prst="ellipse">
            <a:avLst/>
          </a:prstGeom>
          <a:solidFill>
            <a:srgbClr val="0E1B38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-27432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전산실 운영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 err="1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생산·자재</a:t>
            </a:r>
            <a:r>
              <a:rPr lang="en-US" sz="1050" dirty="0" smtClean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50" dirty="0" smtClean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85416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93976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SI 진입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25496" y="2651760"/>
            <a:ext cx="274320" cy="274320"/>
          </a:xfrm>
          <a:prstGeom prst="ellipse">
            <a:avLst/>
          </a:prstGeom>
          <a:solidFill>
            <a:srgbClr val="0E1B38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66544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은행·보험권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 시스템 개발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79392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87952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삼성생명 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2651760"/>
            <a:ext cx="274320" cy="274320"/>
          </a:xfrm>
          <a:prstGeom prst="ellipse">
            <a:avLst/>
          </a:prstGeom>
          <a:solidFill>
            <a:srgbClr val="0E1B38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시스템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대출관리 PL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81928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 C&amp;C / IBM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13448" y="2651760"/>
            <a:ext cx="274320" cy="274320"/>
          </a:xfrm>
          <a:prstGeom prst="ellipse">
            <a:avLst/>
          </a:prstGeom>
          <a:solidFill>
            <a:srgbClr val="0E1B38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차세대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 err="1" smtClean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67344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75904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한화시스템/ICT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07424" y="2651760"/>
            <a:ext cx="274320" cy="274320"/>
          </a:xfrm>
          <a:prstGeom prst="ellipse">
            <a:avLst/>
          </a:prstGeom>
          <a:solidFill>
            <a:srgbClr val="0E1B38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48472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금융프로젝트팀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 smtClean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PM·PL·</a:t>
            </a:r>
            <a:r>
              <a:rPr lang="ko-KR" altLang="en-US" sz="1050" dirty="0" smtClean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사업관리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56132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469880" y="20391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01400" y="2651760"/>
            <a:ext cx="274320" cy="274320"/>
          </a:xfrm>
          <a:prstGeom prst="ellipse">
            <a:avLst/>
          </a:prstGeom>
          <a:solidFill>
            <a:srgbClr val="C6A34E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E1B3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442448" y="30449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AI·품질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IT 새 도전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1605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416552"/>
            <a:ext cx="310896" cy="310896"/>
          </a:xfrm>
          <a:prstGeom prst="ellipse">
            <a:avLst/>
          </a:prstGeom>
          <a:solidFill>
            <a:srgbClr val="0E1B38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416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53312" y="439826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성장 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873752"/>
            <a:ext cx="29809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→ 분석/설계자 → PL/PM → 사업관리까지 역할 확장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89120" y="41605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416552"/>
            <a:ext cx="310896" cy="310896"/>
          </a:xfrm>
          <a:prstGeom prst="ellipse">
            <a:avLst/>
          </a:prstGeom>
          <a:solidFill>
            <a:srgbClr val="0E1B38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4416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02352" y="439826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전문성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4873752"/>
            <a:ext cx="29809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은행·보험 여신/융자 업무 중심의 도메인 전문성 축적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38160" y="41605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4416552"/>
            <a:ext cx="310896" cy="310896"/>
          </a:xfrm>
          <a:prstGeom prst="ellipse">
            <a:avLst/>
          </a:prstGeom>
          <a:solidFill>
            <a:srgbClr val="0E1B38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4416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51392" y="439826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현재의 차별성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0" y="4873752"/>
            <a:ext cx="29809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금융 IT 경험에 AI·품질자동화·클라우드 학습을 결합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COMPETENCIES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도메인 · 프로젝트 리딩 · 품질/AI 자동화의 결합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13432"/>
            <a:ext cx="640080" cy="64008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10512" y="2350008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A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10512" y="2624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업무 전문성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05840" y="3264408"/>
            <a:ext cx="2798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29000"/>
            <a:ext cx="27980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여신신청 · 심사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신용평가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대출관리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사후관리 / 연체관리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13432"/>
            <a:ext cx="640080" cy="64008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59552" y="2350008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A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59552" y="2624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수행력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754880" y="3264408"/>
            <a:ext cx="2798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429000"/>
            <a:ext cx="27980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· PL · PMO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설계 · 개발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/ 현업 조율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· 위험관리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96596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0" y="2313432"/>
            <a:ext cx="640080" cy="64008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08592" y="2350008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A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08592" y="2624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· AI 확장성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503920" y="3264408"/>
            <a:ext cx="2798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3429000"/>
            <a:ext cx="27980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ISTQB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KSTQB Gen-AI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품질평가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자동화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321808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0E1B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321808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안정적인 금융 시스템 구축</a:t>
            </a:r>
            <a:r>
              <a:rPr lang="en-US" sz="1400" dirty="0">
                <a:solidFill>
                  <a:srgbClr val="C6A34E"/>
                </a:solidFill>
              </a:rPr>
              <a:t>   + 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신뢰 향상</a:t>
            </a:r>
            <a:r>
              <a:rPr lang="en-US" sz="1400" dirty="0">
                <a:solidFill>
                  <a:srgbClr val="C6A34E"/>
                </a:solidFill>
              </a:rPr>
              <a:t>   + 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변화하는 기술 환경 대응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HISTORY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사항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제조업에서 금융 SI로, 37년간 한 분야에서 쌓아온 전문성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340156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재직 기간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및 업무 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한화시스템/ICT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2014.04 ~ 2026.06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금융프로젝트팀 / 금융 SI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정년퇴직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한국IBM㈜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2008.10 ~ 2010.03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GBS (Global Business Service)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계약종료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SK C&amp;C㈜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2007.09 ~ 2008.09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금융사업부 / 은행파트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계약종료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㈜뉴비지니스시스템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1996.09 ~ 1999.02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금융사업부 (오픈금융전산 분리)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한일약품공업㈜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1989.11 ~ 1996.09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전산실 (생산/자재/재무회계)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9722"/>
            </a:avLst>
          </a:prstGeom>
          <a:solidFill>
            <a:srgbClr val="ECF0F8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5705856"/>
            <a:ext cx="219456" cy="21945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548640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37년 IT 경력 중 8년(1989~1996)은 제조업 전산실, 이후 30년은 금융 SI 분야에 집중했습니다.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 경험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· 보험권 차세대, 여신, 신용평가, AI 기반 시스템 수행 이력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3621024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2022.04~2022.11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플러스앱 구축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구축사업 PMO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한화생명보험㈜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E4FA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사업관리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2020.04~2021.11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제주은행 차세대시스템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여신사후관리 분석/설계/개발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제주은행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2019.03~2020.01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자동견적시스템(AOS)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AOS 시스템 구축 PMO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보험개발원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26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2016.04~2017.03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K뱅크 시스템 구축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인터넷뱅크 신용평가시스템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케이뱅크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1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2015.09~2016.03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신용대출 시스템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비정형 신용평가시스템 구축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한화생명보험㈜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98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2011.10~2012.03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부산은행 차세대시스템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여신사후관리(조기경보·연체관리)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부산은행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1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2007.11~2010.06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국민은행 차세대시스템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여신사전심사 구축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국민은행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1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1999.09~2003.08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삼성생명 차세대시스템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663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여신 대출관리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722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삼성생명보험㈜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889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1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742432"/>
            <a:ext cx="10908792" cy="713232"/>
          </a:xfrm>
          <a:prstGeom prst="roundRect">
            <a:avLst>
              <a:gd name="adj" fmla="val 8974"/>
            </a:avLst>
          </a:prstGeom>
          <a:solidFill>
            <a:srgbClr val="0E1B38"/>
          </a:solidFill>
          <a:ln/>
        </p:spPr>
      </p:sp>
      <p:sp>
        <p:nvSpPr>
          <p:cNvPr id="5" name="Text 4"/>
          <p:cNvSpPr/>
          <p:nvPr/>
        </p:nvSpPr>
        <p:spPr>
          <a:xfrm>
            <a:off x="960120" y="5742432"/>
            <a:ext cx="10241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15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MESSAGE   </a:t>
            </a: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“경력 나열형”이 아니라, 금융업무 흐름을 이해하고 설계·조율·품질까지 책임지는 실무형 리더입니다.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10" name="Text 7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&amp; GROWTH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및 지속 성장 역량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경험에 안주하지 않고 품질 · AI · 안전 분야까지 학습을 확장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정보처리기사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IT 역량 검증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121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63347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소방안전관리자 1급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99923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 자격 확장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121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263347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ISTQB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99923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테스트 국제 자격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192024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0E1B38"/>
          </a:solidFill>
          <a:ln w="12700">
            <a:solidFill>
              <a:srgbClr val="0E1B38"/>
            </a:solidFill>
            <a:prstDash val="solid"/>
          </a:ln>
          <a:effectLst>
            <a:outerShdw blurRad="76200" dist="254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2121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81160" y="263347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KSTQB Gen-AI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299923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품질 이해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LEARNING  —  최근 학습 방향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4507992"/>
            <a:ext cx="128016" cy="12801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361688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품질평가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0976" y="4873752"/>
            <a:ext cx="29809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Judge 이해 및 실습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 채점 자동화 프로젝트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16052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4507992"/>
            <a:ext cx="128016" cy="12801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361688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0016" y="4873752"/>
            <a:ext cx="29809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기반 서비스 구조 이해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대시보드 구현 경험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9056" y="4507992"/>
            <a:ext cx="128016" cy="12801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0" y="4361688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/ 운영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49056" y="4873752"/>
            <a:ext cx="29809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기초 학습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모니터링·테스트 자동화 관심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15875">
            <a:solidFill>
              <a:srgbClr val="1E31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&amp; WORK STYLE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가치관과 업무 스타일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신뢰, 책임감, 협업을 기반으로 프로젝트 성과를 만듭니다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E4C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“신뢰는 책임감에서 시작되고, 성장은 배움에서 완성된다.”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27000" dist="50800" dir="5400000" algn="bl" rotWithShape="0">
              <a:srgbClr val="0E1B3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246120"/>
            <a:ext cx="658368" cy="658368"/>
          </a:xfrm>
          <a:prstGeom prst="ellipse">
            <a:avLst/>
          </a:prstGeom>
          <a:solidFill>
            <a:srgbClr val="0E1B38"/>
          </a:solidFill>
          <a:ln w="19050">
            <a:solidFill>
              <a:srgbClr val="C6A3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46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3310128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책임감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4041648"/>
            <a:ext cx="28712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업무를 끝까지 완수하는 태도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장애·이슈 발생 시 원인 분석 중심 대응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27000" dist="50800" dir="5400000" algn="bl" rotWithShape="0">
              <a:srgbClr val="0E1B3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246120"/>
            <a:ext cx="658368" cy="658368"/>
          </a:xfrm>
          <a:prstGeom prst="ellipse">
            <a:avLst/>
          </a:prstGeom>
          <a:solidFill>
            <a:srgbClr val="0E1B38"/>
          </a:solidFill>
          <a:ln w="19050">
            <a:solidFill>
              <a:srgbClr val="C6A3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246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3310128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36592" y="4041648"/>
            <a:ext cx="28712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현업·개발·고객 사이의 의견 조율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분담과 일정관리 경험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926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27000" dist="50800" dir="5400000" algn="bl" rotWithShape="0">
              <a:srgbClr val="0E1B3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3246120"/>
            <a:ext cx="658368" cy="658368"/>
          </a:xfrm>
          <a:prstGeom prst="ellipse">
            <a:avLst/>
          </a:prstGeom>
          <a:solidFill>
            <a:srgbClr val="0E1B38"/>
          </a:solidFill>
          <a:ln w="19050">
            <a:solidFill>
              <a:srgbClr val="C6A3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3246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81160" y="3310128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85632" y="4041648"/>
            <a:ext cx="28712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 이후까지 일할 수 있는 준비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AI·품질·클라우드 지속 학습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93792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264A"/>
          </a:solidFill>
          <a:ln w="12700">
            <a:solidFill>
              <a:srgbClr val="C6A3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193792"/>
            <a:ext cx="10241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보완   </a:t>
            </a:r>
            <a:r>
              <a:rPr lang="en-US" sz="125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확인이 많은 책임감을 협업과 역할 분담을 통해 프로젝트 관리 역량으로 전환했습니다. 팀원의 의견을 존중하며 함께 성장하는 협업형 리더를 지향합니다.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FIT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직무 적합성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IT 경험을 즉시 활용할 수 있는 역할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9584" cy="2926080"/>
          </a:xfrm>
          <a:prstGeom prst="roundRect">
            <a:avLst>
              <a:gd name="adj" fmla="val 2813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32257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042416" y="3182112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310128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IT PM / PL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24128" y="397764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여신·융자·신용평가 업무 이해를 바탕으로 요구사항 정리, 일정관리, 리스크 대응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529584" cy="2926080"/>
          </a:xfrm>
          <a:prstGeom prst="roundRect">
            <a:avLst>
              <a:gd name="adj" fmla="val 2813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32257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791456" y="3182112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310128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품질관리 / QA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73168" y="397764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ISTQB 기반 테스트 관점과 실제 프로젝트 경험을 결합해 품질관리 체계 개선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529584" cy="2926080"/>
          </a:xfrm>
          <a:prstGeom prst="roundRect">
            <a:avLst>
              <a:gd name="adj" fmla="val 2813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22208" y="232257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8540496" y="3182112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3310128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서비스 운영 / 평가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22208" y="397764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품질평가와 자동화 테스트 경험을 바탕으로 AI 서비스 검증 체계 구축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E1B38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3036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관점의 강점  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투입 가능한 도메인 경험</a:t>
            </a:r>
            <a:r>
              <a:rPr lang="en-US" sz="1350" dirty="0">
                <a:solidFill>
                  <a:srgbClr val="C6A34E"/>
                </a:solidFill>
              </a:rPr>
              <a:t>   + 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내 지식 전수 가능</a:t>
            </a:r>
            <a:r>
              <a:rPr lang="en-US" sz="1350" dirty="0">
                <a:solidFill>
                  <a:srgbClr val="C6A34E"/>
                </a:solidFill>
              </a:rPr>
              <a:t>   + 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기술 학습 의지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후 포부와 실행 계획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경험을 바탕으로 빠르게 적응하고, 품질과 효율을 높이는 인재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9584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34086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1B38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~ 30일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97180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파악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42416" y="3529584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675888"/>
            <a:ext cx="2779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조직·시스템·프로세스 이해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요구사항 및 이슈 구조 파악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78808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529584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234086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1B38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~ 60일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73168" y="297180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기여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91456" y="3529584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675888"/>
            <a:ext cx="2779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리스크 관리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품질·테스트 개선안 제안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27848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29584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0E1B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22208" y="234086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1B38"/>
          </a:solidFill>
          <a:ln/>
        </p:spPr>
      </p:sp>
      <p:sp>
        <p:nvSpPr>
          <p:cNvPr id="21" name="Text 19"/>
          <p:cNvSpPr/>
          <p:nvPr/>
        </p:nvSpPr>
        <p:spPr>
          <a:xfrm>
            <a:off x="8522208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~ 90일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2208" y="297180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제안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40496" y="3529584"/>
            <a:ext cx="2724912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3675888"/>
            <a:ext cx="2779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AI·자동화 적용 가능 영역 발굴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후배 지식 공유 및 표준화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93792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E1B3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93792"/>
            <a:ext cx="102412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6A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후 목표   </a:t>
            </a: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IT 경험을 조직의 안정성과 성과로 연결하고, AI·품질 자동화를 통해 더 효율적인 업무 환경을 만드는 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1996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2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윤욱</a:t>
            </a:r>
            <a:r>
              <a:rPr lang="en-US" sz="1100" dirty="0">
                <a:solidFill>
                  <a:srgbClr val="5663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475720" y="6336792"/>
            <a:ext cx="82296" cy="82296"/>
          </a:xfrm>
          <a:prstGeom prst="ellipse">
            <a:avLst/>
          </a:prstGeom>
          <a:solidFill>
            <a:srgbClr val="C6A34E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6199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15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11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657600"/>
            <a:ext cx="4389120" cy="4389120"/>
          </a:xfrm>
          <a:prstGeom prst="ellipse">
            <a:avLst/>
          </a:prstGeom>
          <a:ln w="15875">
            <a:solidFill>
              <a:srgbClr val="1E31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 TAKEAWAYS  —  인사담당자의 눈에 띄는 포인트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2700" b="1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30년 </a:t>
            </a: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금융 IT 경험 위에</a:t>
            </a:r>
            <a:endParaRPr lang="en-US" sz="2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· 품질 자동화 역량을 더한 실무형 전문가”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01600" dist="38100" dir="5400000" algn="bl" rotWithShape="0">
              <a:srgbClr val="0E1B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532888"/>
            <a:ext cx="548640" cy="54864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64208" y="2459736"/>
            <a:ext cx="4169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4C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경험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64208" y="2788920"/>
            <a:ext cx="4123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은행·보험 여신/융자, 신용평가, 사후관리 프로젝트를 폭넓게 수행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2240280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01600" dist="38100" dir="5400000" algn="bl" rotWithShape="0">
              <a:srgbClr val="0E1B3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1384" y="2532888"/>
            <a:ext cx="548640" cy="54864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14616" y="2459736"/>
            <a:ext cx="4169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4C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기여 영역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14616" y="2788920"/>
            <a:ext cx="4123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정리, 일정·위험관리, 테스트 품질 개선, 현업 커뮤니케이션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01600" dist="38100" dir="5400000" algn="bl" rotWithShape="0">
              <a:srgbClr val="0E1B3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0976" y="3886200"/>
            <a:ext cx="548640" cy="54864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64208" y="3813048"/>
            <a:ext cx="4169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4C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스토리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64208" y="4142232"/>
            <a:ext cx="4123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정년을 앞두고도 새로운 기술과 자격을 준비하는 자기계발형 인재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593592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16264A"/>
          </a:solidFill>
          <a:ln w="12700">
            <a:solidFill>
              <a:srgbClr val="1E3157"/>
            </a:solidFill>
            <a:prstDash val="solid"/>
          </a:ln>
          <a:effectLst>
            <a:outerShdw blurRad="101600" dist="38100" dir="5400000" algn="bl" rotWithShape="0">
              <a:srgbClr val="0E1B3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1384" y="3886200"/>
            <a:ext cx="548640" cy="548640"/>
          </a:xfrm>
          <a:prstGeom prst="ellipse">
            <a:avLst/>
          </a:prstGeom>
          <a:solidFill>
            <a:srgbClr val="0E1B38"/>
          </a:solidFill>
          <a:ln w="15875">
            <a:solidFill>
              <a:srgbClr val="C6A3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A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14616" y="3813048"/>
            <a:ext cx="4169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4C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가치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14616" y="4142232"/>
            <a:ext cx="4123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후배 지식 전수, 프로젝트 안정화, 고객 신뢰 확보에 기여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3036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“저는 금융 업무를 깊이 이해하고, 프로젝트를 안정적으로 이끌며, 새로운 기술까지 연결할 수 있는 사람입니다.”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5815584"/>
            <a:ext cx="3200400" cy="0"/>
          </a:xfrm>
          <a:prstGeom prst="line">
            <a:avLst/>
          </a:prstGeom>
          <a:noFill/>
          <a:ln w="12700">
            <a:solidFill>
              <a:srgbClr val="1E31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 욱</a:t>
            </a:r>
            <a:r>
              <a:rPr lang="en-US" sz="1300" dirty="0">
                <a:solidFill>
                  <a:srgbClr val="82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|     010-5352-3448     |     yoonwook@naver.com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1069</Words>
  <Application>Microsoft Office PowerPoint</Application>
  <PresentationFormat>와이드스크린</PresentationFormat>
  <Paragraphs>291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윤욱</cp:lastModifiedBy>
  <cp:revision>2</cp:revision>
  <dcterms:created xsi:type="dcterms:W3CDTF">2026-07-22T04:57:53Z</dcterms:created>
  <dcterms:modified xsi:type="dcterms:W3CDTF">2026-07-22T13:10:22Z</dcterms:modified>
</cp:coreProperties>
</file>